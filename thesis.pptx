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B15882-036A-BA46-81B7-EB0B2123D5E0}" v="34" dt="2025-11-23T18:07:57.5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01"/>
    <p:restoredTop sz="94718"/>
  </p:normalViewPr>
  <p:slideViewPr>
    <p:cSldViewPr snapToGrid="0">
      <p:cViewPr varScale="1">
        <p:scale>
          <a:sx n="103" d="100"/>
          <a:sy n="103" d="100"/>
        </p:scale>
        <p:origin x="26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E583B-C6C9-8D6E-299A-F0148DA2E4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NEUROMORPHIC SOLUTION FOR THE AGING AMERICAN SIGN LANGUAGE (ASL) POPULATION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758523-1F6E-FA1D-1DF9-C04DEE9789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KARRINGTON STANLEY</a:t>
            </a:r>
          </a:p>
          <a:p>
            <a:r>
              <a:rPr lang="en-US" dirty="0"/>
              <a:t>FALL 2025</a:t>
            </a:r>
          </a:p>
        </p:txBody>
      </p:sp>
    </p:spTree>
    <p:extLst>
      <p:ext uri="{BB962C8B-B14F-4D97-AF65-F5344CB8AC3E}">
        <p14:creationId xmlns:p14="http://schemas.microsoft.com/office/powerpoint/2010/main" val="548117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4891-CDD3-C10F-432F-CFED08B6B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14300"/>
            <a:ext cx="5219699" cy="1456267"/>
          </a:xfrm>
        </p:spPr>
        <p:txBody>
          <a:bodyPr>
            <a:normAutofit/>
          </a:bodyPr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92F84-70AA-42FE-4757-550FD83BF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214438"/>
            <a:ext cx="5219699" cy="54006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There is an </a:t>
            </a:r>
            <a:r>
              <a:rPr lang="en-US" b="1" dirty="0"/>
              <a:t>increasing number of older adults </a:t>
            </a:r>
            <a:r>
              <a:rPr lang="en-US" dirty="0"/>
              <a:t>that are </a:t>
            </a:r>
            <a:r>
              <a:rPr lang="en-US" b="1" dirty="0"/>
              <a:t>experiencing their motor and cognitive skills declining</a:t>
            </a:r>
            <a:r>
              <a:rPr lang="en-US" dirty="0"/>
              <a:t>. With this, comes the need for tools to be able to communicate, especially for individuals who use ASL.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Ataxia</a:t>
            </a:r>
            <a:r>
              <a:rPr lang="en-US" dirty="0"/>
              <a:t> and </a:t>
            </a:r>
            <a:r>
              <a:rPr lang="en-US" b="1" dirty="0"/>
              <a:t>Parkinson’s</a:t>
            </a:r>
            <a:r>
              <a:rPr lang="en-US" dirty="0"/>
              <a:t> </a:t>
            </a:r>
            <a:r>
              <a:rPr lang="en-US" b="1" dirty="0"/>
              <a:t>disease</a:t>
            </a:r>
            <a:r>
              <a:rPr lang="en-US" dirty="0"/>
              <a:t> interfere with nerve systems and makes it </a:t>
            </a:r>
            <a:r>
              <a:rPr lang="en-US" b="1" dirty="0"/>
              <a:t>challenging for individuals to communicate </a:t>
            </a:r>
            <a:r>
              <a:rPr lang="en-US" dirty="0"/>
              <a:t>normally.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problem I am addressing is whether </a:t>
            </a:r>
            <a:r>
              <a:rPr lang="en-US" b="1" dirty="0"/>
              <a:t>neuromorphic models </a:t>
            </a:r>
            <a:r>
              <a:rPr lang="en-US" dirty="0"/>
              <a:t>will be able to </a:t>
            </a:r>
            <a:r>
              <a:rPr lang="en-US" b="1" dirty="0"/>
              <a:t>learn an individual’s gesture methods</a:t>
            </a:r>
            <a:r>
              <a:rPr lang="en-US" dirty="0"/>
              <a:t>, even though they might be unstable or irregular.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method of my research is to </a:t>
            </a:r>
            <a:r>
              <a:rPr lang="en-US" b="1" dirty="0"/>
              <a:t>design a neuromorphic model </a:t>
            </a:r>
            <a:r>
              <a:rPr lang="en-US" dirty="0"/>
              <a:t>that </a:t>
            </a:r>
            <a:r>
              <a:rPr lang="en-US" b="1" dirty="0"/>
              <a:t>can recognize ASL gestures</a:t>
            </a:r>
            <a:r>
              <a:rPr lang="en-US" dirty="0"/>
              <a:t>. I will then </a:t>
            </a:r>
            <a:r>
              <a:rPr lang="en-US" b="1" dirty="0"/>
              <a:t>test the accuracy of the system</a:t>
            </a:r>
            <a:r>
              <a:rPr lang="en-US" dirty="0"/>
              <a:t> to figure out if it is capable to use for the older adults that struggle with declining cognitive skills.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F19AA1-84CC-FF27-F459-6CCBC0D409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1975" b="26065"/>
          <a:stretch>
            <a:fillRect/>
          </a:stretch>
        </p:blipFill>
        <p:spPr bwMode="auto">
          <a:xfrm>
            <a:off x="5771386" y="1002734"/>
            <a:ext cx="6163736" cy="48525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21522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D94887-6A10-4F62-8EE1-B2BCFA1F3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-1786"/>
            <a:ext cx="12188825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Wooden hand holding pencil">
            <a:extLst>
              <a:ext uri="{FF2B5EF4-FFF2-40B4-BE49-F238E27FC236}">
                <a16:creationId xmlns:a16="http://schemas.microsoft.com/office/drawing/2014/main" id="{994212A2-8C43-8813-E5AD-4EC7703EE3C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t="7865" b="786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D512BA-228A-4979-9312-ACD246E10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" y="893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9CC977-3199-94B3-A153-BBCE5BA32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>
            <a:normAutofit/>
          </a:bodyPr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6630D-FFD6-EF78-E7D7-1C8714DEE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364913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To what extent can neuromorphic models accurately recognize ASL gestures that would be used by aging adults with diminished motor skills?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109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07159-601E-3DAC-0759-098C9C74E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472400"/>
            <a:ext cx="6282266" cy="1456267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F3418-F790-C772-B321-088ECA685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1671638"/>
            <a:ext cx="6282266" cy="5186361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/>
              <a:t>According to the study titled "The Application of Technology to Improve Cognition in Older Adults," there is a </a:t>
            </a:r>
            <a:r>
              <a:rPr lang="en-US" b="1" dirty="0"/>
              <a:t>notable decrease in birth rates globally</a:t>
            </a:r>
            <a:r>
              <a:rPr lang="en-US" dirty="0"/>
              <a:t>, accompanied by </a:t>
            </a:r>
            <a:r>
              <a:rPr lang="en-US" b="1" dirty="0"/>
              <a:t>an increase in life expectancies</a:t>
            </a:r>
            <a:r>
              <a:rPr lang="en-US" dirty="0"/>
              <a:t>. This demographic shift is contributing to the </a:t>
            </a:r>
            <a:r>
              <a:rPr lang="en-US" b="1" dirty="0"/>
              <a:t>growth of older adult populations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However, the advancement of age has been correlated </a:t>
            </a:r>
            <a:r>
              <a:rPr lang="en-US" b="1" dirty="0"/>
              <a:t>with cognitive decline in individuals over the age of 60</a:t>
            </a:r>
            <a:r>
              <a:rPr lang="en-US" dirty="0"/>
              <a:t>, as well as the </a:t>
            </a:r>
            <a:r>
              <a:rPr lang="en-US" b="1" dirty="0"/>
              <a:t>development of cognitive degenerative diseases</a:t>
            </a:r>
            <a:r>
              <a:rPr lang="en-US" dirty="0"/>
              <a:t> such as </a:t>
            </a:r>
            <a:r>
              <a:rPr lang="en-US" b="1" dirty="0"/>
              <a:t>Alzheimer’s</a:t>
            </a:r>
            <a:r>
              <a:rPr lang="en-US" dirty="0"/>
              <a:t> disease and </a:t>
            </a:r>
            <a:r>
              <a:rPr lang="en-US" b="1" dirty="0"/>
              <a:t>Ataxia</a:t>
            </a:r>
            <a:r>
              <a:rPr lang="en-US" dirty="0"/>
              <a:t> .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These conditions </a:t>
            </a:r>
            <a:r>
              <a:rPr lang="en-US" b="1" dirty="0"/>
              <a:t>directly affect the enjoyment and engagement of older adults in social spaces</a:t>
            </a:r>
            <a:r>
              <a:rPr lang="en-US" dirty="0"/>
              <a:t>. To help enhance social and communication skills, researchers are actively exploring methods by which </a:t>
            </a:r>
            <a:r>
              <a:rPr lang="en-US" b="1" dirty="0"/>
              <a:t>technology can improve cognitive performance</a:t>
            </a:r>
            <a:r>
              <a:rPr lang="en-US" dirty="0"/>
              <a:t>. </a:t>
            </a:r>
          </a:p>
          <a:p>
            <a:endParaRPr lang="en-US" sz="1400" dirty="0"/>
          </a:p>
        </p:txBody>
      </p:sp>
      <p:pic>
        <p:nvPicPr>
          <p:cNvPr id="1026" name="Picture 2" descr="Neurological Sciences">
            <a:extLst>
              <a:ext uri="{FF2B5EF4-FFF2-40B4-BE49-F238E27FC236}">
                <a16:creationId xmlns:a16="http://schemas.microsoft.com/office/drawing/2014/main" id="{785FABDE-6F4B-0066-D13B-6AE08ECAB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90936" y="1200534"/>
            <a:ext cx="3445714" cy="4380731"/>
          </a:xfrm>
          <a:prstGeom prst="roundRect">
            <a:avLst>
              <a:gd name="adj" fmla="val 4380"/>
            </a:avLst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9284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46680-E9A6-7AA0-AF64-196CDC5D2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609600"/>
            <a:ext cx="5147730" cy="1641987"/>
          </a:xfrm>
        </p:spPr>
        <p:txBody>
          <a:bodyPr>
            <a:normAutofit/>
          </a:bodyPr>
          <a:lstStyle/>
          <a:p>
            <a:r>
              <a:rPr lang="en-US"/>
              <a:t>Introduction cont.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BF70F-6C2F-2C38-140D-00C5BA780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2251587"/>
            <a:ext cx="5147730" cy="3637935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500"/>
              <a:t>Adults who utilize ASL may encounter difficulties in communication when affected by conditions such as Ataxia, which </a:t>
            </a:r>
            <a:r>
              <a:rPr lang="en-US" sz="1500" b="1"/>
              <a:t>diminishes muscle coordination</a:t>
            </a:r>
            <a:r>
              <a:rPr lang="en-US" sz="1500"/>
              <a:t>, or Parkinson’s disease, which </a:t>
            </a:r>
            <a:r>
              <a:rPr lang="en-US" sz="1500" b="1"/>
              <a:t>induces involuntary movements</a:t>
            </a:r>
            <a:r>
              <a:rPr lang="en-US" sz="1500"/>
              <a:t>.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/>
          </a:p>
          <a:p>
            <a:pPr marL="0" indent="0">
              <a:lnSpc>
                <a:spcPct val="90000"/>
              </a:lnSpc>
              <a:buNone/>
            </a:pPr>
            <a:r>
              <a:rPr lang="en-US" sz="1500"/>
              <a:t>It is possible to develop and customize </a:t>
            </a:r>
            <a:r>
              <a:rPr lang="en-US" sz="1500" b="1"/>
              <a:t>assistive technology </a:t>
            </a:r>
            <a:r>
              <a:rPr lang="en-US" sz="1500"/>
              <a:t>for these patients. </a:t>
            </a:r>
            <a:r>
              <a:rPr lang="en-US" sz="1500" b="1"/>
              <a:t>Neuromorphic cameras </a:t>
            </a:r>
            <a:r>
              <a:rPr lang="en-US" sz="1500"/>
              <a:t>are an innovative approach; they are </a:t>
            </a:r>
            <a:r>
              <a:rPr lang="en-US" sz="1500" b="1"/>
              <a:t>human-like devices </a:t>
            </a:r>
            <a:r>
              <a:rPr lang="en-US" sz="1500"/>
              <a:t>designed to learn the communication methods of these individuals.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/>
          </a:p>
          <a:p>
            <a:pPr marL="0" indent="0">
              <a:lnSpc>
                <a:spcPct val="90000"/>
              </a:lnSpc>
              <a:buNone/>
            </a:pPr>
            <a:r>
              <a:rPr lang="en-US" sz="1500"/>
              <a:t>These cameras can would and </a:t>
            </a:r>
            <a:r>
              <a:rPr lang="en-US" sz="1500" b="1"/>
              <a:t>learn ASL gestures just as a human</a:t>
            </a:r>
            <a:r>
              <a:rPr lang="en-US" sz="1500"/>
              <a:t> can be implemented into a software program for </a:t>
            </a:r>
            <a:r>
              <a:rPr lang="en-US" sz="1500" b="1"/>
              <a:t>real-world use</a:t>
            </a:r>
            <a:r>
              <a:rPr lang="en-US" sz="1500"/>
              <a:t>. </a:t>
            </a:r>
          </a:p>
        </p:txBody>
      </p:sp>
      <p:pic>
        <p:nvPicPr>
          <p:cNvPr id="2054" name="Picture 6" descr="Eye-mimicking AI car camera detects pedestrians, obstacles 100x faster">
            <a:extLst>
              <a:ext uri="{FF2B5EF4-FFF2-40B4-BE49-F238E27FC236}">
                <a16:creationId xmlns:a16="http://schemas.microsoft.com/office/drawing/2014/main" id="{2FB1ED2B-0FFD-CE28-09CD-15132BB93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5818" y="1846430"/>
            <a:ext cx="6168782" cy="3469939"/>
          </a:xfrm>
          <a:prstGeom prst="roundRect">
            <a:avLst>
              <a:gd name="adj" fmla="val 4380"/>
            </a:avLst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2" descr="Information 15 00472 g003">
            <a:extLst>
              <a:ext uri="{FF2B5EF4-FFF2-40B4-BE49-F238E27FC236}">
                <a16:creationId xmlns:a16="http://schemas.microsoft.com/office/drawing/2014/main" id="{8F036701-4426-6EBF-25C1-75FE82F234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938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D64DC-38B5-01B4-2D30-B1FE3CE59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7278" y="1030288"/>
            <a:ext cx="4099947" cy="10355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/>
              <a:t>Convolutional Neural Network (</a:t>
            </a:r>
            <a:r>
              <a:rPr lang="en-US" sz="2000" err="1"/>
              <a:t>cnn</a:t>
            </a:r>
            <a:r>
              <a:rPr lang="en-US" sz="2000"/>
              <a:t>) – mobilenetv3 small</a:t>
            </a:r>
          </a:p>
        </p:txBody>
      </p:sp>
      <p:pic>
        <p:nvPicPr>
          <p:cNvPr id="2052" name="Picture 4" descr="A space shuttle flying in space&#10;&#10;AI-generated content may be incorrect.">
            <a:extLst>
              <a:ext uri="{FF2B5EF4-FFF2-40B4-BE49-F238E27FC236}">
                <a16:creationId xmlns:a16="http://schemas.microsoft.com/office/drawing/2014/main" id="{3F20CC51-01E1-613D-CBC3-EC2EBDE39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8989" y="3678861"/>
            <a:ext cx="4413809" cy="2692424"/>
          </a:xfrm>
          <a:prstGeom prst="roundRect">
            <a:avLst>
              <a:gd name="adj" fmla="val 6267"/>
            </a:avLst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Basic CNN Architecture Explained: Key Layers and Workflow">
            <a:extLst>
              <a:ext uri="{FF2B5EF4-FFF2-40B4-BE49-F238E27FC236}">
                <a16:creationId xmlns:a16="http://schemas.microsoft.com/office/drawing/2014/main" id="{6B31B696-BE37-576D-9F52-698FED6A8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2628" y="719655"/>
            <a:ext cx="4786533" cy="2692424"/>
          </a:xfrm>
          <a:prstGeom prst="roundRect">
            <a:avLst>
              <a:gd name="adj" fmla="val 6267"/>
            </a:avLst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5039A-C1B5-E8A8-36B0-1ED798ACB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7278" y="1223319"/>
            <a:ext cx="4099947" cy="456788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Lightweight Image Classification Model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Efficient and Fast, Used on Qualcomm smartphones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Classifies images using ImageNet dataset</a:t>
            </a:r>
          </a:p>
        </p:txBody>
      </p:sp>
      <p:sp>
        <p:nvSpPr>
          <p:cNvPr id="4" name="AutoShape 2" descr="It shows the overall architecture of MobileNet-V3 Small. It includes a lightweight neural network design featuring depth-wise convolutions, inverted residuals, and a squeeze-and-excitation module for efficient feature extraction targeted for mobile and edge devices.">
            <a:extLst>
              <a:ext uri="{FF2B5EF4-FFF2-40B4-BE49-F238E27FC236}">
                <a16:creationId xmlns:a16="http://schemas.microsoft.com/office/drawing/2014/main" id="{169326F3-666A-6D0E-AED7-EE914B001C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52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F68F1-ED33-83D1-3355-6FDD352C0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09600"/>
            <a:ext cx="4158668" cy="1456267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6B46DE7-EE13-333D-5B65-5D98ECAC41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29650" y="216030"/>
            <a:ext cx="2187576" cy="64259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0455FA-3130-295F-3ED5-3312556DE5FF}"/>
              </a:ext>
            </a:extLst>
          </p:cNvPr>
          <p:cNvSpPr txBox="1"/>
          <p:nvPr/>
        </p:nvSpPr>
        <p:spPr>
          <a:xfrm>
            <a:off x="228600" y="1698171"/>
            <a:ext cx="8066314" cy="444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Tx/>
              <a:buAutoNum type="arabicPeriod"/>
            </a:pPr>
            <a:r>
              <a:rPr lang="en-US" dirty="0"/>
              <a:t>The video frames are used to isolate the hand only.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/>
              <a:t>ASL hand gestures are captured on camera using OpenCV.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/>
              <a:t>The captured hand images are normalized to be input into the MobileNetV3.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/>
              <a:t>MobileNetV3 goes through training/evaluations and is quizzed on the corresponding ASL letters.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/>
              <a:t>The predicted letter is shown in the live recognition.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/>
              <a:t>The letter is sent to webpage, to show on the webpage frontend.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/>
              <a:t>The frontend shows recognized letters when the user interacts with the system.</a:t>
            </a:r>
          </a:p>
        </p:txBody>
      </p:sp>
    </p:spTree>
    <p:extLst>
      <p:ext uri="{BB962C8B-B14F-4D97-AF65-F5344CB8AC3E}">
        <p14:creationId xmlns:p14="http://schemas.microsoft.com/office/powerpoint/2010/main" val="991629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B7312-A609-0228-B05C-37A93A3D3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7" y="-112734"/>
            <a:ext cx="10131425" cy="1456267"/>
          </a:xfrm>
        </p:spPr>
        <p:txBody>
          <a:bodyPr/>
          <a:lstStyle/>
          <a:p>
            <a:pPr algn="ctr"/>
            <a:r>
              <a:rPr lang="en-US" dirty="0"/>
              <a:t>ASL datasets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EB962A-C576-ED28-EBCA-CF050ABF70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03535" y="1049660"/>
            <a:ext cx="4706465" cy="5486813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BC2F7D-C688-367C-4CB3-AFE1AAB38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999" y="1049661"/>
            <a:ext cx="4706466" cy="548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37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93380-EC85-48D9-48B8-462942934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B874F-D881-2E06-57DD-B4198810C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666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F0229-C9AD-707C-9CBB-A4641FE65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A5B3A-3B58-5F54-370D-846505111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637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23817-2E82-DF28-0771-46FD4680B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63554-5EE1-604D-082D-1E2B05C56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571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7E169-065F-70E7-25B3-BDC747E9F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considerations/limitations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EF4DE-7C0F-E338-6144-BADC1E2D7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6227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14461</TotalTime>
  <Words>508</Words>
  <Application>Microsoft Macintosh PowerPoint</Application>
  <PresentationFormat>Widescreen</PresentationFormat>
  <Paragraphs>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Celestial</vt:lpstr>
      <vt:lpstr>A NEUROMORPHIC SOLUTION FOR THE AGING AMERICAN SIGN LANGUAGE (ASL) POPULATION</vt:lpstr>
      <vt:lpstr>ABSTRACT</vt:lpstr>
      <vt:lpstr>RESEARCH QUESTION</vt:lpstr>
      <vt:lpstr>Introduction</vt:lpstr>
      <vt:lpstr>Introduction cont. </vt:lpstr>
      <vt:lpstr>Convolutional Neural Network (cnn) – mobilenetv3 small</vt:lpstr>
      <vt:lpstr>Methodology</vt:lpstr>
      <vt:lpstr>ASL datasets</vt:lpstr>
      <vt:lpstr>Accuracy</vt:lpstr>
      <vt:lpstr>Website implementation</vt:lpstr>
      <vt:lpstr>conclusion</vt:lpstr>
      <vt:lpstr>Ethical considerations/limitations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Karrington A. Stanley</dc:creator>
  <cp:lastModifiedBy>Karrington A. Stanley</cp:lastModifiedBy>
  <cp:revision>3</cp:revision>
  <dcterms:created xsi:type="dcterms:W3CDTF">2025-11-20T18:08:12Z</dcterms:created>
  <dcterms:modified xsi:type="dcterms:W3CDTF">2026-02-12T19:24:31Z</dcterms:modified>
</cp:coreProperties>
</file>